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33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365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881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86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558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171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38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879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849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52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964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8032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826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496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886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478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55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ED18737-7577-49D8-9268-4B801D8E3E84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47274-31F3-4DC9-9BDC-15374F560D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957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1B491-B224-E19D-779C-9CDC4975A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5273" y="3028419"/>
            <a:ext cx="6815669" cy="1515533"/>
          </a:xfrm>
        </p:spPr>
        <p:txBody>
          <a:bodyPr/>
          <a:lstStyle/>
          <a:p>
            <a:r>
              <a:rPr lang="en-US" b="1" dirty="0"/>
              <a:t>Zomato Order &amp; Restaurant Analysis Using Power BI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9236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E24EA-B620-8E8D-9D59-67671A75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1: Upload Dataset into MySQL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18F99C-BAD2-C27D-14B2-20FC4CC1A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098" y="1600200"/>
            <a:ext cx="9057040" cy="4643438"/>
          </a:xfrm>
        </p:spPr>
      </p:pic>
    </p:spTree>
    <p:extLst>
      <p:ext uri="{BB962C8B-B14F-4D97-AF65-F5344CB8AC3E}">
        <p14:creationId xmlns:p14="http://schemas.microsoft.com/office/powerpoint/2010/main" val="2971998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DBD94-36C3-8A3B-2BD5-0A732267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Cont.,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E2FC37-FF47-2DF6-4F4F-2C86D8D30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3725" y="1428751"/>
            <a:ext cx="8737109" cy="4627012"/>
          </a:xfrm>
        </p:spPr>
      </p:pic>
    </p:spTree>
    <p:extLst>
      <p:ext uri="{BB962C8B-B14F-4D97-AF65-F5344CB8AC3E}">
        <p14:creationId xmlns:p14="http://schemas.microsoft.com/office/powerpoint/2010/main" val="4256698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BCC15-B5D3-40C3-DE6B-A2033DC5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2: Perform Simple Data Transformations Using SQL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B5D394-55C5-603D-3E0C-3DC9DFA8F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5946" y="2052638"/>
            <a:ext cx="6621883" cy="4195762"/>
          </a:xfrm>
        </p:spPr>
      </p:pic>
    </p:spTree>
    <p:extLst>
      <p:ext uri="{BB962C8B-B14F-4D97-AF65-F5344CB8AC3E}">
        <p14:creationId xmlns:p14="http://schemas.microsoft.com/office/powerpoint/2010/main" val="4147360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AB09-E016-AA07-E544-38B4479B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Exploration Queries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EBD720E-64DA-3BAC-999E-DEAE9E488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864" y="1685926"/>
            <a:ext cx="9087239" cy="3822101"/>
          </a:xfrm>
        </p:spPr>
      </p:pic>
    </p:spTree>
    <p:extLst>
      <p:ext uri="{BB962C8B-B14F-4D97-AF65-F5344CB8AC3E}">
        <p14:creationId xmlns:p14="http://schemas.microsoft.com/office/powerpoint/2010/main" val="2031186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F2D2-ABA6-0843-FA77-7BCA5932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Cont.,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1B53DB-0866-5243-5658-D340D719D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476" y="1853248"/>
            <a:ext cx="9127943" cy="3994293"/>
          </a:xfrm>
        </p:spPr>
      </p:pic>
    </p:spTree>
    <p:extLst>
      <p:ext uri="{BB962C8B-B14F-4D97-AF65-F5344CB8AC3E}">
        <p14:creationId xmlns:p14="http://schemas.microsoft.com/office/powerpoint/2010/main" val="2509763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965E-931A-7DD6-DE0D-B22821F7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Cont.,</a:t>
            </a:r>
            <a:endParaRPr lang="en-IN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1CC356-A199-C6B9-94AD-0019AF4FA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227" y="1853247"/>
            <a:ext cx="9404723" cy="4018915"/>
          </a:xfrm>
        </p:spPr>
      </p:pic>
    </p:spTree>
    <p:extLst>
      <p:ext uri="{BB962C8B-B14F-4D97-AF65-F5344CB8AC3E}">
        <p14:creationId xmlns:p14="http://schemas.microsoft.com/office/powerpoint/2010/main" val="3704063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AC4F-7BEB-9926-D8EF-37B62D4CD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Aggregation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FA8633-C96B-AA96-6358-D893CBC4A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7338" y="1613092"/>
            <a:ext cx="8001000" cy="4489590"/>
          </a:xfrm>
        </p:spPr>
      </p:pic>
    </p:spTree>
    <p:extLst>
      <p:ext uri="{BB962C8B-B14F-4D97-AF65-F5344CB8AC3E}">
        <p14:creationId xmlns:p14="http://schemas.microsoft.com/office/powerpoint/2010/main" val="2476839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4D91-BAF9-FED1-F270-E6344D48E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Identify the top 5 restaurants with the highest total sales.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44B95D-B526-DA8E-3480-4F3FFD622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4624" y="2207189"/>
            <a:ext cx="7253772" cy="3898055"/>
          </a:xfrm>
        </p:spPr>
      </p:pic>
    </p:spTree>
    <p:extLst>
      <p:ext uri="{BB962C8B-B14F-4D97-AF65-F5344CB8AC3E}">
        <p14:creationId xmlns:p14="http://schemas.microsoft.com/office/powerpoint/2010/main" val="2504887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254BC-9796-045D-64AE-4B6362E9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90332"/>
          </a:xfrm>
        </p:spPr>
        <p:txBody>
          <a:bodyPr/>
          <a:lstStyle/>
          <a:p>
            <a:r>
              <a:rPr lang="en-US" sz="2000" b="1" dirty="0"/>
              <a:t>Join the </a:t>
            </a:r>
            <a:r>
              <a:rPr lang="en-US" sz="2000" b="1" dirty="0" err="1"/>
              <a:t>Zomato_Orders</a:t>
            </a:r>
            <a:r>
              <a:rPr lang="en-US" sz="2000" b="1" dirty="0"/>
              <a:t> and </a:t>
            </a:r>
            <a:r>
              <a:rPr lang="en-US" sz="2000" b="1" dirty="0" err="1"/>
              <a:t>Zomato_Restaurants</a:t>
            </a:r>
            <a:r>
              <a:rPr lang="en-US" sz="2000" b="1" dirty="0"/>
              <a:t> tables to get restaurant names along with order details.</a:t>
            </a:r>
            <a:endParaRPr lang="en-IN" sz="2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72B4E8-2BCF-54CD-B8B9-8C45019CD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721" y="1853247"/>
            <a:ext cx="9023563" cy="4509171"/>
          </a:xfrm>
        </p:spPr>
      </p:pic>
    </p:spTree>
    <p:extLst>
      <p:ext uri="{BB962C8B-B14F-4D97-AF65-F5344CB8AC3E}">
        <p14:creationId xmlns:p14="http://schemas.microsoft.com/office/powerpoint/2010/main" val="3191157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B7891-CCED-A262-CDD0-D9F8D90F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Save the transformed data as an Excel file.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81A809-25C9-D318-B7EC-38E494263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3130" y="2052638"/>
            <a:ext cx="5107516" cy="4195762"/>
          </a:xfrm>
        </p:spPr>
      </p:pic>
    </p:spTree>
    <p:extLst>
      <p:ext uri="{BB962C8B-B14F-4D97-AF65-F5344CB8AC3E}">
        <p14:creationId xmlns:p14="http://schemas.microsoft.com/office/powerpoint/2010/main" val="3564301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381-BA8A-0560-2242-58BBD7799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861" y="2152931"/>
            <a:ext cx="9404723" cy="1400530"/>
          </a:xfrm>
        </p:spPr>
        <p:txBody>
          <a:bodyPr/>
          <a:lstStyle/>
          <a:p>
            <a:r>
              <a:rPr lang="en-US" b="1" dirty="0"/>
              <a:t>Task 3: Power BI Analysis and Visualization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98184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4A211-A9A3-7A6E-D061-805FB2A7B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0101" y="1761738"/>
            <a:ext cx="3755916" cy="4263141"/>
          </a:xfrm>
        </p:spPr>
        <p:txBody>
          <a:bodyPr>
            <a:normAutofit/>
          </a:bodyPr>
          <a:lstStyle/>
          <a:p>
            <a:r>
              <a:rPr lang="en-US" sz="3200" b="1" dirty="0"/>
              <a:t>Establish a relationship between </a:t>
            </a:r>
            <a:r>
              <a:rPr lang="en-US" sz="3200" b="1" dirty="0" err="1"/>
              <a:t>Restaurant_ID</a:t>
            </a:r>
            <a:r>
              <a:rPr lang="en-US" sz="3200" b="1" dirty="0"/>
              <a:t> in both datasets</a:t>
            </a:r>
            <a:endParaRPr lang="en-IN" sz="32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EB4FB4-1AED-4B16-9080-4B4D13CEB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7587" y="1761738"/>
            <a:ext cx="6260919" cy="4096137"/>
          </a:xfrm>
        </p:spPr>
      </p:pic>
    </p:spTree>
    <p:extLst>
      <p:ext uri="{BB962C8B-B14F-4D97-AF65-F5344CB8AC3E}">
        <p14:creationId xmlns:p14="http://schemas.microsoft.com/office/powerpoint/2010/main" val="2911039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7516-70F5-6D27-5A1B-09D60C99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1: Number of Restaurants per City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50567D-A698-4175-1BBD-07B112540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9751" y="2069016"/>
            <a:ext cx="7154273" cy="4163006"/>
          </a:xfrm>
        </p:spPr>
      </p:pic>
    </p:spTree>
    <p:extLst>
      <p:ext uri="{BB962C8B-B14F-4D97-AF65-F5344CB8AC3E}">
        <p14:creationId xmlns:p14="http://schemas.microsoft.com/office/powerpoint/2010/main" val="1368332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18401-FEC0-D648-80F6-28953B97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of Task-1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18FE2-AD0B-3C0B-E0BC-4A630CA7C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38" y="1385888"/>
            <a:ext cx="9292615" cy="486251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200" b="1" dirty="0"/>
              <a:t>Mumbai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Fairly balanced distribution across areas.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Area_A</a:t>
            </a:r>
            <a:r>
              <a:rPr lang="en-US" sz="1200" dirty="0"/>
              <a:t> and </a:t>
            </a:r>
            <a:r>
              <a:rPr lang="en-US" sz="1200" b="1" dirty="0" err="1"/>
              <a:t>Area_B</a:t>
            </a:r>
            <a:r>
              <a:rPr lang="en-US" sz="1200" dirty="0"/>
              <a:t> are the largest contributors (~0.031K and ~0.023K respectively).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Area_E</a:t>
            </a:r>
            <a:r>
              <a:rPr lang="en-US" sz="1200" dirty="0"/>
              <a:t> has a decent share as well.</a:t>
            </a:r>
          </a:p>
          <a:p>
            <a:pPr>
              <a:buNone/>
            </a:pPr>
            <a:r>
              <a:rPr lang="en-US" sz="1200" b="1" dirty="0"/>
              <a:t>Bangalore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Area_A</a:t>
            </a:r>
            <a:r>
              <a:rPr lang="en-US" sz="1200" dirty="0"/>
              <a:t> is the dominant contributor (~0.032K).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Area_D</a:t>
            </a:r>
            <a:r>
              <a:rPr lang="en-US" sz="1200" dirty="0"/>
              <a:t> also has a significant share (~0.023K).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Area_C</a:t>
            </a:r>
            <a:r>
              <a:rPr lang="en-US" sz="1200" dirty="0"/>
              <a:t> has a smaller presence compared to other areas.</a:t>
            </a:r>
          </a:p>
          <a:p>
            <a:pPr>
              <a:buNone/>
            </a:pPr>
            <a:r>
              <a:rPr lang="en-US" sz="1200" b="1" dirty="0"/>
              <a:t>Delhi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Area_C</a:t>
            </a:r>
            <a:r>
              <a:rPr lang="en-US" sz="1200" dirty="0"/>
              <a:t> stands out as the largest contributor (~0.025K).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Area_E</a:t>
            </a:r>
            <a:r>
              <a:rPr lang="en-US" sz="1200" dirty="0"/>
              <a:t> also shows strong representation.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Area_A</a:t>
            </a:r>
            <a:r>
              <a:rPr lang="en-US" sz="1200" dirty="0"/>
              <a:t> is the smallest segment.</a:t>
            </a:r>
          </a:p>
          <a:p>
            <a:pPr>
              <a:buNone/>
            </a:pPr>
            <a:r>
              <a:rPr lang="en-US" sz="1200" b="1" dirty="0"/>
              <a:t>Kolkata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Area_C</a:t>
            </a:r>
            <a:r>
              <a:rPr lang="en-US" sz="1200" dirty="0"/>
              <a:t> and </a:t>
            </a:r>
            <a:r>
              <a:rPr lang="en-US" sz="1200" b="1" dirty="0" err="1"/>
              <a:t>Area_D</a:t>
            </a:r>
            <a:r>
              <a:rPr lang="en-US" sz="1200" dirty="0"/>
              <a:t> dominate, with </a:t>
            </a:r>
            <a:r>
              <a:rPr lang="en-US" sz="1200" b="1" dirty="0" err="1"/>
              <a:t>Area_C</a:t>
            </a:r>
            <a:r>
              <a:rPr lang="en-US" sz="1200" dirty="0"/>
              <a:t> slightly ahead.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Area_A</a:t>
            </a:r>
            <a:r>
              <a:rPr lang="en-US" sz="1200" dirty="0"/>
              <a:t> has a smaller presence.</a:t>
            </a:r>
          </a:p>
          <a:p>
            <a:pPr>
              <a:buNone/>
            </a:pPr>
            <a:r>
              <a:rPr lang="en-US" sz="1200" b="1" dirty="0"/>
              <a:t>Chennai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Area_D</a:t>
            </a:r>
            <a:r>
              <a:rPr lang="en-US" sz="1200" dirty="0"/>
              <a:t> and </a:t>
            </a:r>
            <a:r>
              <a:rPr lang="en-US" sz="1200" b="1" dirty="0" err="1"/>
              <a:t>Area_C</a:t>
            </a:r>
            <a:r>
              <a:rPr lang="en-US" sz="1200" dirty="0"/>
              <a:t> contribute the most (~0.023K and ~0.022K).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Area_B</a:t>
            </a:r>
            <a:r>
              <a:rPr lang="en-US" sz="1200" dirty="0"/>
              <a:t> has a smaller share (~0.014K).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97065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F2FD-FFFD-86CD-03AC-3BFF69594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730D3-1942-E0AA-C3EF-623EEAD19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Mumbai and Bangalore have the highest restaurant counts.</a:t>
            </a:r>
          </a:p>
          <a:p>
            <a:r>
              <a:rPr lang="en-US" dirty="0" err="1"/>
              <a:t>Area_A</a:t>
            </a:r>
            <a:r>
              <a:rPr lang="en-US" dirty="0"/>
              <a:t> is dominant in Mumbai and Bangalore.</a:t>
            </a:r>
          </a:p>
          <a:p>
            <a:r>
              <a:rPr lang="en-US" dirty="0" err="1"/>
              <a:t>Area_C</a:t>
            </a:r>
            <a:r>
              <a:rPr lang="en-US" dirty="0"/>
              <a:t> and </a:t>
            </a:r>
            <a:r>
              <a:rPr lang="en-US" dirty="0" err="1"/>
              <a:t>Area_D</a:t>
            </a:r>
            <a:r>
              <a:rPr lang="en-US" dirty="0"/>
              <a:t> are strong across Delhi, Kolkata, and Chennai.</a:t>
            </a:r>
          </a:p>
          <a:p>
            <a:r>
              <a:rPr lang="en-US" dirty="0"/>
              <a:t>Delhi has a high concentration in </a:t>
            </a:r>
            <a:r>
              <a:rPr lang="en-US" dirty="0" err="1"/>
              <a:t>Area_C</a:t>
            </a:r>
            <a:r>
              <a:rPr lang="en-US" dirty="0"/>
              <a:t>.</a:t>
            </a:r>
          </a:p>
          <a:p>
            <a:r>
              <a:rPr lang="en-US" dirty="0"/>
              <a:t>Kolkata and Chennai show similar patterns with </a:t>
            </a:r>
            <a:r>
              <a:rPr lang="en-US" dirty="0" err="1"/>
              <a:t>Area_C</a:t>
            </a:r>
            <a:r>
              <a:rPr lang="en-US" dirty="0"/>
              <a:t> and </a:t>
            </a:r>
            <a:r>
              <a:rPr lang="en-US" dirty="0" err="1"/>
              <a:t>Area_D</a:t>
            </a:r>
            <a:r>
              <a:rPr lang="en-US" dirty="0"/>
              <a:t> leading.</a:t>
            </a:r>
          </a:p>
          <a:p>
            <a:r>
              <a:rPr lang="en-US" dirty="0" err="1"/>
              <a:t>Area_E</a:t>
            </a:r>
            <a:r>
              <a:rPr lang="en-US" dirty="0"/>
              <a:t> has lower presence overall except in Mumbai and Delhi.</a:t>
            </a:r>
          </a:p>
          <a:p>
            <a:r>
              <a:rPr lang="en-US" dirty="0"/>
              <a:t>Distribution suggests Mumbai is more balanced, while other cities have key dominant areas.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618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A05D-90B8-A3E6-E4B7-214E7621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Percentage of Orders from Different Cities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EE6942D-5E8B-6149-3CC3-0F37EB3BBE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1204" y="2082769"/>
            <a:ext cx="6174159" cy="4178003"/>
          </a:xfrm>
        </p:spPr>
      </p:pic>
    </p:spTree>
    <p:extLst>
      <p:ext uri="{BB962C8B-B14F-4D97-AF65-F5344CB8AC3E}">
        <p14:creationId xmlns:p14="http://schemas.microsoft.com/office/powerpoint/2010/main" val="3116646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E6C4-5158-8981-1098-5ECC9A0D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of Task-2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E1146-957E-B002-E865-EB6C621B2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Mumbai (22.56%) &amp; Bangalore (22%) lead in orders.</a:t>
            </a:r>
          </a:p>
          <a:p>
            <a:endParaRPr lang="en-IN" dirty="0"/>
          </a:p>
          <a:p>
            <a:r>
              <a:rPr lang="en-IN" dirty="0"/>
              <a:t>Delhi (19.05%), Kolkata (18.21%), Chennai (18.18%) follow closely.</a:t>
            </a:r>
          </a:p>
          <a:p>
            <a:endParaRPr lang="en-IN" dirty="0"/>
          </a:p>
          <a:p>
            <a:r>
              <a:rPr lang="en-IN" dirty="0"/>
              <a:t>Narrow gap between </a:t>
            </a:r>
            <a:r>
              <a:rPr lang="en-US" dirty="0"/>
              <a:t>Mumbai (22.56%) and Bangalore (22%) highlights a tight race for the top spot in order volume.</a:t>
            </a:r>
          </a:p>
          <a:p>
            <a:endParaRPr lang="en-US" dirty="0"/>
          </a:p>
          <a:p>
            <a:r>
              <a:rPr lang="en-IN" dirty="0"/>
              <a:t>Balanced demand across all 5 cities.</a:t>
            </a:r>
          </a:p>
          <a:p>
            <a:endParaRPr lang="en-IN" dirty="0"/>
          </a:p>
          <a:p>
            <a:pPr algn="just"/>
            <a:r>
              <a:rPr lang="en-IN" dirty="0"/>
              <a:t>Focus areas: Boost efforts in Mumbai/Bangalore; </a:t>
            </a:r>
            <a:r>
              <a:rPr lang="en-US" dirty="0"/>
              <a:t>while maintaining engagement in other cities to capitalize on their steady contributions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6020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583B5-FEC0-9AF6-D1C4-BD03EE2C8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Order Amount Trends Over Time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8362A2-B74F-5876-0923-15EC1E73E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5572" y="2083308"/>
            <a:ext cx="7525800" cy="4105848"/>
          </a:xfrm>
        </p:spPr>
      </p:pic>
    </p:spTree>
    <p:extLst>
      <p:ext uri="{BB962C8B-B14F-4D97-AF65-F5344CB8AC3E}">
        <p14:creationId xmlns:p14="http://schemas.microsoft.com/office/powerpoint/2010/main" val="1730862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2B7F9-D056-B922-A938-A685C792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for Task-3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7DF2D-7CB8-AA57-144C-0F61EE94D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571626"/>
            <a:ext cx="9021153" cy="467677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70000"/>
              </a:lnSpc>
            </a:pPr>
            <a:r>
              <a:rPr lang="en-US" sz="1600" dirty="0"/>
              <a:t>Peak Sales: April recorded the highest sales at 1376K, showing a significant spike.</a:t>
            </a:r>
          </a:p>
          <a:p>
            <a:pPr algn="just">
              <a:lnSpc>
                <a:spcPct val="170000"/>
              </a:lnSpc>
            </a:pPr>
            <a:r>
              <a:rPr lang="en-US" sz="1600" dirty="0"/>
              <a:t>Lowest Sales: June had the lowest sales at 1261K, indicating a sharp dip.</a:t>
            </a:r>
          </a:p>
          <a:p>
            <a:pPr algn="just">
              <a:lnSpc>
                <a:spcPct val="170000"/>
              </a:lnSpc>
            </a:pPr>
            <a:r>
              <a:rPr lang="en-US" sz="1600" dirty="0"/>
              <a:t>Q1 Performance: Moderate growth with a peak in February (1326K) followed by a slight drop in March.</a:t>
            </a:r>
          </a:p>
          <a:p>
            <a:pPr algn="just">
              <a:lnSpc>
                <a:spcPct val="170000"/>
              </a:lnSpc>
            </a:pPr>
            <a:r>
              <a:rPr lang="en-US" sz="1600" dirty="0"/>
              <a:t>Q2 Fluctuation: Drastic increase in April, then a steep decline through May and June.</a:t>
            </a:r>
          </a:p>
          <a:p>
            <a:pPr algn="just">
              <a:lnSpc>
                <a:spcPct val="170000"/>
              </a:lnSpc>
            </a:pPr>
            <a:r>
              <a:rPr lang="en-US" sz="1600" dirty="0"/>
              <a:t>Q3 Stability: More stable with slight variations; highest in August (1320K) and lowest in September (1298K).</a:t>
            </a:r>
          </a:p>
          <a:p>
            <a:pPr algn="just">
              <a:lnSpc>
                <a:spcPct val="170000"/>
              </a:lnSpc>
            </a:pPr>
            <a:r>
              <a:rPr lang="en-US" sz="1600" dirty="0"/>
              <a:t>Q4 Decline: Downward trend from October (1307K) to November (1278K), with a slight recovery in December (1280K).</a:t>
            </a:r>
          </a:p>
          <a:p>
            <a:pPr algn="just">
              <a:lnSpc>
                <a:spcPct val="170000"/>
              </a:lnSpc>
            </a:pPr>
            <a:r>
              <a:rPr lang="en-US" sz="1600" dirty="0"/>
              <a:t>Seasonal Impact: Q2 shows high volatility, possibly due to seasonal factors or promotions.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89935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99D4C-EAF5-5268-70BE-68BBCEF4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4: Correlation of Factors Affecting Average Rating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838A8C-2EC2-2FCC-D97C-12B583D9D3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7540" y="2052638"/>
            <a:ext cx="7678695" cy="4195762"/>
          </a:xfrm>
        </p:spPr>
      </p:pic>
    </p:spTree>
    <p:extLst>
      <p:ext uri="{BB962C8B-B14F-4D97-AF65-F5344CB8AC3E}">
        <p14:creationId xmlns:p14="http://schemas.microsoft.com/office/powerpoint/2010/main" val="3227556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A99F-4988-1CA5-B353-184451B78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of Task-4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0AF51-9095-9279-F7E5-48B0457A5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9283701" cy="467614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210000"/>
              </a:lnSpc>
            </a:pPr>
            <a:r>
              <a:rPr lang="en-US" dirty="0"/>
              <a:t>No Strong Linear Correlation: There’s no clear linear trend between order count and average delivery time.</a:t>
            </a:r>
          </a:p>
          <a:p>
            <a:pPr algn="just">
              <a:lnSpc>
                <a:spcPct val="210000"/>
              </a:lnSpc>
            </a:pPr>
            <a:r>
              <a:rPr lang="en-US" dirty="0"/>
              <a:t>High Order ≠ High Delivery Time: Some high order counts (&gt;3000) have moderate delivery times (~52), indicating good operational efficiency.</a:t>
            </a:r>
          </a:p>
          <a:p>
            <a:pPr algn="just">
              <a:lnSpc>
                <a:spcPct val="210000"/>
              </a:lnSpc>
            </a:pPr>
            <a:r>
              <a:rPr lang="en-US" dirty="0"/>
              <a:t>Delivery Time Spread: Most delivery times cluster between 50 to 54 minutes, regardless of order count.</a:t>
            </a:r>
          </a:p>
          <a:p>
            <a:pPr algn="just">
              <a:lnSpc>
                <a:spcPct val="210000"/>
              </a:lnSpc>
            </a:pPr>
            <a:r>
              <a:rPr lang="en-US" dirty="0"/>
              <a:t>Rating Distribution: Color gradient shows Total Ratings—they are spread across all combinations, with no clear dominance in any one region.</a:t>
            </a:r>
          </a:p>
          <a:p>
            <a:pPr algn="just">
              <a:lnSpc>
                <a:spcPct val="210000"/>
              </a:lnSpc>
            </a:pPr>
            <a:r>
              <a:rPr lang="en-US" dirty="0"/>
              <a:t>Efficiency Outliers: A few data points have low delivery time with high order count, signaling best-performing units.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6362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8A4E-6E26-9D6D-2BFD-38343DE2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Top 5 Restaurants by Total Sales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A80102-72AA-B42E-EC58-3C017A4F9B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2837" y="2052638"/>
            <a:ext cx="6928101" cy="4195762"/>
          </a:xfrm>
        </p:spPr>
      </p:pic>
    </p:spTree>
    <p:extLst>
      <p:ext uri="{BB962C8B-B14F-4D97-AF65-F5344CB8AC3E}">
        <p14:creationId xmlns:p14="http://schemas.microsoft.com/office/powerpoint/2010/main" val="1399145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A13E-CB9F-B34F-0851-3A9D1D589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of Task-5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B70CD-C18E-2722-21E6-EF69F3D6C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Bangalore Leads Overall: Consistently high sales across areas, peaking in Area B (0.98M) and Area A (0.97M).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Mumbai’s Strong Show: Mumbai shows high performance in Area A (0.94M) and Area E (0.89M).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Delhi’s Peak: Delhi tops in Area C (0.83M), leading among cities in that area.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Chennai’s Consistency: Moderate sales across all areas; strongest in Area E (0.70M).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Kolkata Trails: Generally lower sales, with highest in Area C (0.67M).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724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E591-786A-6C62-9D71-9EEDA5CA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4F05-FC1B-28C7-A78C-22A5302E9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Area B slightly edges out Area A for the top spot, thanks to Bangalore’s standout performance (0.98M).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Mumbai shows strong performance in multiple areas, contributing heavily to Area A, B, and E.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Delhi dominates Area C, helping it secure the 3rd position.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All top 5 restaurants are competitive, with total sales above 3M each.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9607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33B3-3240-F80B-6F80-B01D50AB4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Revenue by Area Using a Tree Map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DA74F7-517E-3DB2-1AFB-34EE7D222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5950" y="1981201"/>
            <a:ext cx="6881369" cy="4524872"/>
          </a:xfrm>
        </p:spPr>
      </p:pic>
    </p:spTree>
    <p:extLst>
      <p:ext uri="{BB962C8B-B14F-4D97-AF65-F5344CB8AC3E}">
        <p14:creationId xmlns:p14="http://schemas.microsoft.com/office/powerpoint/2010/main" val="30867095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AFBC-5F8B-D799-DAC7-EF4450CA7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Task-6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83453-4638-65F6-59F0-9B2D9F62B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High-Revenue Areas: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Area A – 3.39M (Highest revenue generator)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Area B – 3.16MArea D – 3.07M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Low-Revenue Areas: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Area E – 2.91M (Lowest revenue)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Area C – 3.04M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Key Insight: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Area A is the top-performing area.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Revenue across all areas is relatively close, but Area E lags slightly, suggesting potential for improvement or investment focus.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259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800D8-4910-B4C5-F54F-D99DAC9DB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Task-8: KPI Cards – Total Revenue &amp; Average Order Value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9EB739-D50B-E4DE-DBA0-63AC10B09D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5252" y="2269069"/>
            <a:ext cx="5163271" cy="3762900"/>
          </a:xfrm>
        </p:spPr>
      </p:pic>
    </p:spTree>
    <p:extLst>
      <p:ext uri="{BB962C8B-B14F-4D97-AF65-F5344CB8AC3E}">
        <p14:creationId xmlns:p14="http://schemas.microsoft.com/office/powerpoint/2010/main" val="3762508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FF5E-FBD7-6DD9-C9BB-D65C2562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for Task-8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1B1A9-1F23-FEC2-3366-5CB1BC3ED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💰 Current KPI Value:367.69K – This represents the Average Order Value aggregated over city-wise total revenue.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🎯 Goal:0.50K – The initial target benchmark.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🚀 Performance: Surpassed the goal by +73,437.03%, indicating massive overachievement.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📈 Trend: Steady and consistent upward growth over time, reflecting strong performance in both order value and revenue generation.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13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507C2-823F-2B0E-44E6-1006D576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9: Restaurant-Wise Sales Summary in a Table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B563D4-B593-4A3E-866B-E76205064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6563" y="1853248"/>
            <a:ext cx="3124361" cy="4821545"/>
          </a:xfrm>
        </p:spPr>
      </p:pic>
    </p:spTree>
    <p:extLst>
      <p:ext uri="{BB962C8B-B14F-4D97-AF65-F5344CB8AC3E}">
        <p14:creationId xmlns:p14="http://schemas.microsoft.com/office/powerpoint/2010/main" val="1937468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9BB8E-E91F-E74B-B12B-A336AE2B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for Task-9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9732-884D-6C92-EA3F-98BAB318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826" y="1514476"/>
            <a:ext cx="9164028" cy="473392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IN" sz="1600" dirty="0"/>
              <a:t>Top Performers: </a:t>
            </a:r>
          </a:p>
          <a:p>
            <a:pPr lvl="1">
              <a:lnSpc>
                <a:spcPct val="120000"/>
              </a:lnSpc>
            </a:pPr>
            <a:r>
              <a:rPr lang="en-IN" sz="1400" dirty="0"/>
              <a:t>Bangalore (</a:t>
            </a:r>
            <a:r>
              <a:rPr lang="en-IN" sz="1400" dirty="0" err="1"/>
              <a:t>Area_B</a:t>
            </a:r>
            <a:r>
              <a:rPr lang="en-IN" sz="1400" dirty="0"/>
              <a:t>) and Mumbai (</a:t>
            </a:r>
            <a:r>
              <a:rPr lang="en-IN" sz="1400" dirty="0" err="1"/>
              <a:t>Area_A</a:t>
            </a:r>
            <a:r>
              <a:rPr lang="en-IN" sz="1400" dirty="0"/>
              <a:t>) have the highest individual sales (~₹9.8L &amp; ~₹9.4L).</a:t>
            </a:r>
          </a:p>
          <a:p>
            <a:pPr lvl="1">
              <a:lnSpc>
                <a:spcPct val="120000"/>
              </a:lnSpc>
            </a:pPr>
            <a:r>
              <a:rPr lang="en-IN" sz="1400" dirty="0"/>
              <a:t>Kolkata dominates mid-range sales (₹4.4L–₹6.7L).</a:t>
            </a:r>
          </a:p>
          <a:p>
            <a:pPr>
              <a:lnSpc>
                <a:spcPct val="120000"/>
              </a:lnSpc>
            </a:pPr>
            <a:r>
              <a:rPr lang="en-IN" sz="1600" dirty="0"/>
              <a:t>City Trends:</a:t>
            </a:r>
          </a:p>
          <a:p>
            <a:pPr lvl="1">
              <a:lnSpc>
                <a:spcPct val="120000"/>
              </a:lnSpc>
            </a:pPr>
            <a:r>
              <a:rPr lang="en-IN" sz="1400" dirty="0"/>
              <a:t>Mumbai leads in total high-value sales (multiple entries above ₹7L).</a:t>
            </a:r>
          </a:p>
          <a:p>
            <a:pPr lvl="1">
              <a:lnSpc>
                <a:spcPct val="120000"/>
              </a:lnSpc>
            </a:pPr>
            <a:r>
              <a:rPr lang="en-IN" sz="1400" dirty="0"/>
              <a:t>Chennai and Delhi show consistent performance across areas.</a:t>
            </a:r>
          </a:p>
          <a:p>
            <a:pPr>
              <a:lnSpc>
                <a:spcPct val="120000"/>
              </a:lnSpc>
            </a:pPr>
            <a:r>
              <a:rPr lang="en-IN" sz="1600" dirty="0"/>
              <a:t>Area Analysis:</a:t>
            </a:r>
          </a:p>
          <a:p>
            <a:pPr lvl="1">
              <a:lnSpc>
                <a:spcPct val="120000"/>
              </a:lnSpc>
            </a:pPr>
            <a:r>
              <a:rPr lang="en-IN" sz="1400" dirty="0" err="1"/>
              <a:t>Area_E</a:t>
            </a:r>
            <a:r>
              <a:rPr lang="en-IN" sz="1400" dirty="0"/>
              <a:t> (Kolkata, Delhi, Mumbai) and </a:t>
            </a:r>
            <a:r>
              <a:rPr lang="en-IN" sz="1400" dirty="0" err="1"/>
              <a:t>Area_A</a:t>
            </a:r>
            <a:r>
              <a:rPr lang="en-IN" sz="1400" dirty="0"/>
              <a:t> (Mumbai, Bangalore) are top revenue generators.</a:t>
            </a:r>
          </a:p>
          <a:p>
            <a:pPr>
              <a:lnSpc>
                <a:spcPct val="120000"/>
              </a:lnSpc>
            </a:pPr>
            <a:r>
              <a:rPr lang="en-IN" sz="1600" dirty="0"/>
              <a:t>Total Sales: ₹1.56 crore, with contributions spread across cities and areas.</a:t>
            </a:r>
          </a:p>
          <a:p>
            <a:pPr>
              <a:lnSpc>
                <a:spcPct val="120000"/>
              </a:lnSpc>
            </a:pPr>
            <a:r>
              <a:rPr lang="en-IN" sz="1600" dirty="0"/>
              <a:t>Summary: Mumbai and Bangalore drive premium sales, while Kolkata and Chennai show balanced performance. Areas E and A are key revenue hubs.</a:t>
            </a:r>
          </a:p>
          <a:p>
            <a:pPr>
              <a:lnSpc>
                <a:spcPct val="120000"/>
              </a:lnSpc>
            </a:pPr>
            <a:endParaRPr lang="en-IN" sz="1600" dirty="0"/>
          </a:p>
          <a:p>
            <a:pPr>
              <a:lnSpc>
                <a:spcPct val="12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985627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1B04-FFB9-60C2-7DC3-8E8CBA59F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10: Power BI Dashboard – Combining All Visuals</a:t>
            </a:r>
            <a:br>
              <a:rPr lang="en-US" dirty="0"/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4B6DD09-5CEE-E3FA-30B1-2EA11A297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0163" y="1853248"/>
            <a:ext cx="8220907" cy="4571351"/>
          </a:xfrm>
        </p:spPr>
      </p:pic>
    </p:spTree>
    <p:extLst>
      <p:ext uri="{BB962C8B-B14F-4D97-AF65-F5344CB8AC3E}">
        <p14:creationId xmlns:p14="http://schemas.microsoft.com/office/powerpoint/2010/main" val="25995129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BCE9-6C21-D75F-8A9E-89371BE9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for Task-10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A1A83-191E-33A5-8770-BA392B254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00200"/>
            <a:ext cx="9283701" cy="4805082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dirty="0"/>
              <a:t>Restaurant Count by City &amp; Area: Mumbai leads in restaurant count, followed by Bangalore and Delhi.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Order Percentage by City: Delhi (22.5%) and Chennai (22%) have the highest share of orders.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Revenue by Area: </a:t>
            </a:r>
            <a:r>
              <a:rPr lang="en-US" dirty="0" err="1"/>
              <a:t>Area_B</a:t>
            </a:r>
            <a:r>
              <a:rPr lang="en-US" dirty="0"/>
              <a:t> generates the maximum revenue (~3.9M), ahead of other areas.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Total Sales Analysis: Mumbai has 10,078 customer ratings and leads in sales (~35M).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Sum of Total Sales: Total sales across all cities stand at 15.57M.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Correlation Analysis: Higher order counts correlate with better average delivery times and ratings.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Top 5 Restaurants by Sales: </a:t>
            </a:r>
            <a:r>
              <a:rPr lang="en-US" dirty="0" err="1"/>
              <a:t>Area_B</a:t>
            </a:r>
            <a:r>
              <a:rPr lang="en-US" dirty="0"/>
              <a:t> restaurants show the strongest sales performance across cities.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Average Order Value &amp; Count: Achieved 367.69K, surpassing the 50K goal by a huge margin (+73,437.03%).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Sales by Quarter &amp; Month: Q2 shows the highest sales peak (~1.58M), indicating strong mid-year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60035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6FBC0-F4BF-AB4C-B84E-CBC252A37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CAEDD-16E3-3E50-C58D-1D7C31BEE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A well-structured dashboard showcasing key performance metrics.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Identification of high-revenue restaurants and customer ordering patterns.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Location-based analysis of demand and restaurant density.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Improved understanding of delivery time efficiency.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484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655</TotalTime>
  <Words>1388</Words>
  <Application>Microsoft Office PowerPoint</Application>
  <PresentationFormat>Widescreen</PresentationFormat>
  <Paragraphs>125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Century Gothic</vt:lpstr>
      <vt:lpstr>Wingdings 3</vt:lpstr>
      <vt:lpstr>Ion</vt:lpstr>
      <vt:lpstr>Zomato Order &amp; Restaurant Analysis Using Power BI</vt:lpstr>
      <vt:lpstr>Task 1: Upload Dataset into MySQL</vt:lpstr>
      <vt:lpstr>Cont.,</vt:lpstr>
      <vt:lpstr>Task 2: Perform Simple Data Transformations Using SQL</vt:lpstr>
      <vt:lpstr>Data Exploration Queries</vt:lpstr>
      <vt:lpstr>Cont.,</vt:lpstr>
      <vt:lpstr>Cont.,</vt:lpstr>
      <vt:lpstr>Data Aggregation</vt:lpstr>
      <vt:lpstr>Identify the top 5 restaurants with the highest total sales.</vt:lpstr>
      <vt:lpstr>Join the Zomato_Orders and Zomato_Restaurants tables to get restaurant names along with order details.</vt:lpstr>
      <vt:lpstr>Save the transformed data as an Excel file.</vt:lpstr>
      <vt:lpstr>Task 3: Power BI Analysis and Visualization</vt:lpstr>
      <vt:lpstr>PowerPoint Presentation</vt:lpstr>
      <vt:lpstr>Task 1: Number of Restaurants per City</vt:lpstr>
      <vt:lpstr>Insights of Task-1</vt:lpstr>
      <vt:lpstr>Cont.,</vt:lpstr>
      <vt:lpstr>Task 2: Percentage of Orders from Different Cities</vt:lpstr>
      <vt:lpstr>Insights of Task-2</vt:lpstr>
      <vt:lpstr>Task 3: Order Amount Trends Over Time</vt:lpstr>
      <vt:lpstr>Insights for Task-3</vt:lpstr>
      <vt:lpstr>Task 4: Correlation of Factors Affecting Average Rating </vt:lpstr>
      <vt:lpstr>Insights of Task-4</vt:lpstr>
      <vt:lpstr>Task 5: Top 5 Restaurants by Total Sales </vt:lpstr>
      <vt:lpstr>Insights of Task-5</vt:lpstr>
      <vt:lpstr>Cont.,</vt:lpstr>
      <vt:lpstr>Task 6: Revenue by Area Using a Tree Map</vt:lpstr>
      <vt:lpstr>Insights from Task-6</vt:lpstr>
      <vt:lpstr>Task-8: KPI Cards – Total Revenue &amp; Average Order Value</vt:lpstr>
      <vt:lpstr>Insights for Task-8</vt:lpstr>
      <vt:lpstr>Task 9: Restaurant-Wise Sales Summary in a Table </vt:lpstr>
      <vt:lpstr>Insights for Task-9</vt:lpstr>
      <vt:lpstr>Task 10: Power BI Dashboard – Combining All Visuals </vt:lpstr>
      <vt:lpstr>Insights for Task-10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41</cp:revision>
  <dcterms:created xsi:type="dcterms:W3CDTF">2025-04-23T06:09:02Z</dcterms:created>
  <dcterms:modified xsi:type="dcterms:W3CDTF">2025-04-26T12:49:07Z</dcterms:modified>
</cp:coreProperties>
</file>